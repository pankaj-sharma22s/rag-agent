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72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F872AC-D35E-4BE7-8299-EC37E83B72ED}" v="1" dt="2026-05-06T06:25:11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vardhan" userId="0cdb65a4cb46ccd8" providerId="LiveId" clId="{CC32CD60-F3F8-4934-8208-C9C31FD90AD3}"/>
    <pc:docChg chg="undo custSel addSld modSld">
      <pc:chgData name="Harsh vardhan" userId="0cdb65a4cb46ccd8" providerId="LiveId" clId="{CC32CD60-F3F8-4934-8208-C9C31FD90AD3}" dt="2026-05-06T06:32:23.026" v="106" actId="2711"/>
      <pc:docMkLst>
        <pc:docMk/>
      </pc:docMkLst>
      <pc:sldChg chg="modSp mod">
        <pc:chgData name="Harsh vardhan" userId="0cdb65a4cb46ccd8" providerId="LiveId" clId="{CC32CD60-F3F8-4934-8208-C9C31FD90AD3}" dt="2026-05-06T06:27:29.176" v="94" actId="14100"/>
        <pc:sldMkLst>
          <pc:docMk/>
          <pc:sldMk cId="0" sldId="266"/>
        </pc:sldMkLst>
        <pc:spChg chg="mod">
          <ac:chgData name="Harsh vardhan" userId="0cdb65a4cb46ccd8" providerId="LiveId" clId="{CC32CD60-F3F8-4934-8208-C9C31FD90AD3}" dt="2026-05-06T06:27:29.176" v="94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7:29.176" v="94" actId="14100"/>
          <ac:spMkLst>
            <pc:docMk/>
            <pc:sldMk cId="0" sldId="266"/>
            <ac:spMk id="7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7:29.176" v="94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7:29.176" v="94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7:29.176" v="94" actId="1410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6:19.990" v="68" actId="403"/>
          <ac:spMkLst>
            <pc:docMk/>
            <pc:sldMk cId="0" sldId="266"/>
            <ac:spMk id="14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7:00.176" v="86" actId="403"/>
          <ac:spMkLst>
            <pc:docMk/>
            <pc:sldMk cId="0" sldId="266"/>
            <ac:spMk id="23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6:24.945" v="69" actId="403"/>
          <ac:spMkLst>
            <pc:docMk/>
            <pc:sldMk cId="0" sldId="266"/>
            <ac:spMk id="24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6:19.990" v="68" actId="403"/>
          <ac:spMkLst>
            <pc:docMk/>
            <pc:sldMk cId="0" sldId="266"/>
            <ac:spMk id="25" creationId="{00000000-0000-0000-0000-000000000000}"/>
          </ac:spMkLst>
        </pc:spChg>
        <pc:cxnChg chg="mod">
          <ac:chgData name="Harsh vardhan" userId="0cdb65a4cb46ccd8" providerId="LiveId" clId="{CC32CD60-F3F8-4934-8208-C9C31FD90AD3}" dt="2026-05-06T06:27:29.176" v="94" actId="14100"/>
          <ac:cxnSpMkLst>
            <pc:docMk/>
            <pc:sldMk cId="0" sldId="266"/>
            <ac:cxnSpMk id="6" creationId="{00000000-0000-0000-0000-000000000000}"/>
          </ac:cxnSpMkLst>
        </pc:cxnChg>
        <pc:cxnChg chg="mod">
          <ac:chgData name="Harsh vardhan" userId="0cdb65a4cb46ccd8" providerId="LiveId" clId="{CC32CD60-F3F8-4934-8208-C9C31FD90AD3}" dt="2026-05-06T06:27:29.176" v="94" actId="14100"/>
          <ac:cxnSpMkLst>
            <pc:docMk/>
            <pc:sldMk cId="0" sldId="266"/>
            <ac:cxnSpMk id="8" creationId="{00000000-0000-0000-0000-000000000000}"/>
          </ac:cxnSpMkLst>
        </pc:cxnChg>
        <pc:cxnChg chg="mod">
          <ac:chgData name="Harsh vardhan" userId="0cdb65a4cb46ccd8" providerId="LiveId" clId="{CC32CD60-F3F8-4934-8208-C9C31FD90AD3}" dt="2026-05-06T06:27:29.176" v="94" actId="14100"/>
          <ac:cxnSpMkLst>
            <pc:docMk/>
            <pc:sldMk cId="0" sldId="266"/>
            <ac:cxnSpMk id="10" creationId="{00000000-0000-0000-0000-000000000000}"/>
          </ac:cxnSpMkLst>
        </pc:cxnChg>
        <pc:cxnChg chg="mod">
          <ac:chgData name="Harsh vardhan" userId="0cdb65a4cb46ccd8" providerId="LiveId" clId="{CC32CD60-F3F8-4934-8208-C9C31FD90AD3}" dt="2026-05-06T06:27:29.176" v="94" actId="14100"/>
          <ac:cxnSpMkLst>
            <pc:docMk/>
            <pc:sldMk cId="0" sldId="266"/>
            <ac:cxnSpMk id="12" creationId="{00000000-0000-0000-0000-000000000000}"/>
          </ac:cxnSpMkLst>
        </pc:cxnChg>
      </pc:sldChg>
      <pc:sldChg chg="modSp mod">
        <pc:chgData name="Harsh vardhan" userId="0cdb65a4cb46ccd8" providerId="LiveId" clId="{CC32CD60-F3F8-4934-8208-C9C31FD90AD3}" dt="2026-05-06T06:23:30.021" v="45" actId="404"/>
        <pc:sldMkLst>
          <pc:docMk/>
          <pc:sldMk cId="0" sldId="267"/>
        </pc:sldMkLst>
        <pc:spChg chg="mod">
          <ac:chgData name="Harsh vardhan" userId="0cdb65a4cb46ccd8" providerId="LiveId" clId="{CC32CD60-F3F8-4934-8208-C9C31FD90AD3}" dt="2026-05-06T06:22:52.112" v="28" actId="403"/>
          <ac:spMkLst>
            <pc:docMk/>
            <pc:sldMk cId="0" sldId="267"/>
            <ac:spMk id="3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2:52.112" v="28" actId="403"/>
          <ac:spMkLst>
            <pc:docMk/>
            <pc:sldMk cId="0" sldId="267"/>
            <ac:spMk id="4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3:30.021" v="45" actId="404"/>
          <ac:spMkLst>
            <pc:docMk/>
            <pc:sldMk cId="0" sldId="267"/>
            <ac:spMk id="5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3:03.738" v="30" actId="403"/>
          <ac:spMkLst>
            <pc:docMk/>
            <pc:sldMk cId="0" sldId="267"/>
            <ac:spMk id="6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3:03.738" v="30" actId="403"/>
          <ac:spMkLst>
            <pc:docMk/>
            <pc:sldMk cId="0" sldId="267"/>
            <ac:spMk id="7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3:03.738" v="30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Harsh vardhan" userId="0cdb65a4cb46ccd8" providerId="LiveId" clId="{CC32CD60-F3F8-4934-8208-C9C31FD90AD3}" dt="2026-05-06T06:22:52.112" v="28" actId="403"/>
          <ac:spMkLst>
            <pc:docMk/>
            <pc:sldMk cId="0" sldId="267"/>
            <ac:spMk id="9" creationId="{00000000-0000-0000-0000-000000000000}"/>
          </ac:spMkLst>
        </pc:spChg>
      </pc:sldChg>
      <pc:sldChg chg="delSp modSp mod">
        <pc:chgData name="Harsh vardhan" userId="0cdb65a4cb46ccd8" providerId="LiveId" clId="{CC32CD60-F3F8-4934-8208-C9C31FD90AD3}" dt="2026-05-06T06:22:40.394" v="26" actId="403"/>
        <pc:sldMkLst>
          <pc:docMk/>
          <pc:sldMk cId="0" sldId="268"/>
        </pc:sldMkLst>
        <pc:spChg chg="mod">
          <ac:chgData name="Harsh vardhan" userId="0cdb65a4cb46ccd8" providerId="LiveId" clId="{CC32CD60-F3F8-4934-8208-C9C31FD90AD3}" dt="2026-05-06T06:22:26.773" v="21" actId="20577"/>
          <ac:spMkLst>
            <pc:docMk/>
            <pc:sldMk cId="0" sldId="268"/>
            <ac:spMk id="3" creationId="{00000000-0000-0000-0000-000000000000}"/>
          </ac:spMkLst>
        </pc:spChg>
        <pc:spChg chg="del">
          <ac:chgData name="Harsh vardhan" userId="0cdb65a4cb46ccd8" providerId="LiveId" clId="{CC32CD60-F3F8-4934-8208-C9C31FD90AD3}" dt="2026-05-06T06:22:31.818" v="22" actId="478"/>
          <ac:spMkLst>
            <pc:docMk/>
            <pc:sldMk cId="0" sldId="268"/>
            <ac:spMk id="4" creationId="{00000000-0000-0000-0000-000000000000}"/>
          </ac:spMkLst>
        </pc:spChg>
        <pc:graphicFrameChg chg="modGraphic">
          <ac:chgData name="Harsh vardhan" userId="0cdb65a4cb46ccd8" providerId="LiveId" clId="{CC32CD60-F3F8-4934-8208-C9C31FD90AD3}" dt="2026-05-06T06:22:40.394" v="26" actId="403"/>
          <ac:graphicFrameMkLst>
            <pc:docMk/>
            <pc:sldMk cId="0" sldId="268"/>
            <ac:graphicFrameMk id="5" creationId="{00000000-0000-0000-0000-000000000000}"/>
          </ac:graphicFrameMkLst>
        </pc:graphicFrameChg>
      </pc:sldChg>
      <pc:sldChg chg="delSp mod">
        <pc:chgData name="Harsh vardhan" userId="0cdb65a4cb46ccd8" providerId="LiveId" clId="{CC32CD60-F3F8-4934-8208-C9C31FD90AD3}" dt="2026-05-06T06:22:04.717" v="0" actId="478"/>
        <pc:sldMkLst>
          <pc:docMk/>
          <pc:sldMk cId="0" sldId="269"/>
        </pc:sldMkLst>
        <pc:spChg chg="del">
          <ac:chgData name="Harsh vardhan" userId="0cdb65a4cb46ccd8" providerId="LiveId" clId="{CC32CD60-F3F8-4934-8208-C9C31FD90AD3}" dt="2026-05-06T06:22:04.717" v="0" actId="478"/>
          <ac:spMkLst>
            <pc:docMk/>
            <pc:sldMk cId="0" sldId="269"/>
            <ac:spMk id="3" creationId="{00000000-0000-0000-0000-000000000000}"/>
          </ac:spMkLst>
        </pc:spChg>
      </pc:sldChg>
      <pc:sldChg chg="addSp modSp new mod">
        <pc:chgData name="Harsh vardhan" userId="0cdb65a4cb46ccd8" providerId="LiveId" clId="{CC32CD60-F3F8-4934-8208-C9C31FD90AD3}" dt="2026-05-06T06:32:23.026" v="106" actId="2711"/>
        <pc:sldMkLst>
          <pc:docMk/>
          <pc:sldMk cId="660275936" sldId="272"/>
        </pc:sldMkLst>
        <pc:spChg chg="add mod">
          <ac:chgData name="Harsh vardhan" userId="0cdb65a4cb46ccd8" providerId="LiveId" clId="{CC32CD60-F3F8-4934-8208-C9C31FD90AD3}" dt="2026-05-06T06:32:23.026" v="106" actId="2711"/>
          <ac:spMkLst>
            <pc:docMk/>
            <pc:sldMk cId="660275936" sldId="272"/>
            <ac:spMk id="3" creationId="{BF26FD92-9283-C7DD-4803-813DB5E88901}"/>
          </ac:spMkLst>
        </pc:spChg>
        <pc:spChg chg="add mod">
          <ac:chgData name="Harsh vardhan" userId="0cdb65a4cb46ccd8" providerId="LiveId" clId="{CC32CD60-F3F8-4934-8208-C9C31FD90AD3}" dt="2026-05-06T06:32:12.652" v="105" actId="2711"/>
          <ac:spMkLst>
            <pc:docMk/>
            <pc:sldMk cId="660275936" sldId="272"/>
            <ac:spMk id="4" creationId="{FF27CBDC-0B95-38CD-2E97-9AE24C2410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73152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1371600"/>
            <a:ext cx="108712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/>
          <a:srcRect b="10713"/>
          <a:stretch>
            <a:fillRect/>
          </a:stretch>
        </p:blipFill>
        <p:spPr bwMode="auto">
          <a:xfrm>
            <a:off x="8737600" y="228600"/>
            <a:ext cx="2743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/>
        </p:nvGrpSpPr>
        <p:grpSpPr bwMode="auto">
          <a:xfrm>
            <a:off x="8195733" y="0"/>
            <a:ext cx="3996267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sz="1800">
                <a:latin typeface="Calibri" panose="020F0502020204030204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37601" y="228600"/>
            <a:ext cx="256116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5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37684-B279-7204-4756-F0D6B76B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ADBC6-424E-CD0B-A0B6-D179AD3E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68FEF-78E3-A80B-3A40-AFEE9F3D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5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18AA-B1E4-D85C-C012-87801E65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572C2-BFB4-68E2-B14C-06A1C3186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9D3C-46C9-C8DB-7B0F-F1A833AAE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F7C50-FD27-6395-106D-83763524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723C2-F992-D3A9-7C9B-E9FECA67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A773A-2F01-D428-5F55-D578281E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5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83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8636000" cy="83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71601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12192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12192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 sz="180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7"/>
          <a:srcRect b="10713"/>
          <a:stretch>
            <a:fillRect/>
          </a:stretch>
        </p:blipFill>
        <p:spPr bwMode="auto">
          <a:xfrm>
            <a:off x="8737600" y="228600"/>
            <a:ext cx="2743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7"/>
          <a:srcRect b="10713"/>
          <a:stretch>
            <a:fillRect/>
          </a:stretch>
        </p:blipFill>
        <p:spPr bwMode="auto">
          <a:xfrm>
            <a:off x="8737600" y="228600"/>
            <a:ext cx="2743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/>
          <p:nvPr/>
        </p:nvGrpSpPr>
        <p:grpSpPr bwMode="auto">
          <a:xfrm>
            <a:off x="8195733" y="0"/>
            <a:ext cx="3996267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 sz="1800">
                <a:latin typeface="Calibri" panose="020F0502020204030204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7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737601" y="228600"/>
            <a:ext cx="256116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514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3823" y="90452"/>
            <a:ext cx="3817007" cy="7325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Virtual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5644494" cy="393954"/>
          </a:xfrm>
          <a:prstGeom prst="rect">
            <a:avLst/>
          </a:prstGeom>
          <a:solidFill>
            <a:srgbClr val="0F172A"/>
          </a:solidFill>
        </p:spPr>
        <p:txBody>
          <a:bodyPr wrap="none" lIns="45720" tIns="27432" rIns="45720" bIns="27432">
            <a:spAutoFit/>
          </a:bodyPr>
          <a:lstStyle/>
          <a:p>
            <a:pPr>
              <a:defRPr sz="2200" b="0">
                <a:solidFill>
                  <a:srgbClr val="E2E8F0"/>
                </a:solidFill>
              </a:defRPr>
            </a:pPr>
            <a:r>
              <a:rPr dirty="0"/>
              <a:t>Demand Paging • Page Replacement • Thrashing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880360"/>
            <a:ext cx="566928" cy="1645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4927" y="2880360"/>
            <a:ext cx="566928" cy="16459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74736" y="2880360"/>
            <a:ext cx="566928" cy="16459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24544" y="2880360"/>
            <a:ext cx="566928" cy="164592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74352" y="2880360"/>
            <a:ext cx="566928" cy="1645920"/>
          </a:xfrm>
          <a:prstGeom prst="roundRect">
            <a:avLst/>
          </a:prstGeom>
          <a:solidFill>
            <a:srgbClr val="7E22CE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080760"/>
            <a:ext cx="4462862" cy="286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500" b="0">
                <a:solidFill>
                  <a:srgbClr val="E2E8F0"/>
                </a:solidFill>
              </a:defRPr>
            </a:pPr>
            <a:r>
              <a:rPr dirty="0"/>
              <a:t>Operating System &amp; Linux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Lecture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A fast but complete conceptual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18488"/>
            <a:ext cx="4114800" cy="2926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Virtual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47672"/>
            <a:ext cx="7772400" cy="2926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Illusion of larger, private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24328"/>
            <a:ext cx="4114800" cy="2926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Demand Paging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53512"/>
            <a:ext cx="7772400" cy="2926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Load only pages that are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30168"/>
            <a:ext cx="4114800" cy="2926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Page Replacement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59352"/>
            <a:ext cx="7772400" cy="2926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Choose victim page when RAM is full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36008"/>
            <a:ext cx="4114800" cy="2926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Thrashing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965192"/>
            <a:ext cx="7772400" cy="29260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When paging overwhelms 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Why Virtual Memory?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The motivating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83464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Program</a:t>
            </a:r>
            <a:br/>
            <a:r>
              <a:t>10 GB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00200"/>
            <a:ext cx="283464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RAM</a:t>
            </a:r>
            <a:br/>
            <a:r>
              <a:t>4 GB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03320" y="2057400"/>
            <a:ext cx="822960" cy="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2971800"/>
            <a:ext cx="10789920" cy="4572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Problem: program may be larger than available physical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10058400" cy="7315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t>Virtual memory solves this by loading only the currently needed pages into RAM and keeping the rest on disk.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00600"/>
            <a:ext cx="1051560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Core idea: not every page of a program must be in RAM at the same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Virtual Memory: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Separating the program’s view from physical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926080" cy="3383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Virtual Address Space</a:t>
            </a:r>
            <a:br/>
            <a:br/>
            <a:r>
              <a:t>Page 0</a:t>
            </a:r>
            <a:br/>
            <a:r>
              <a:t>Page 1</a:t>
            </a:r>
            <a:br/>
            <a:r>
              <a:t>Page 2</a:t>
            </a:r>
            <a:br/>
            <a:r>
              <a:t>...</a:t>
            </a:r>
            <a:br/>
            <a:r>
              <a:t>Page 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45920"/>
            <a:ext cx="2926080" cy="3383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Physical RAM</a:t>
            </a:r>
            <a:br/>
            <a:br/>
            <a:r>
              <a:t>Frame 7</a:t>
            </a:r>
            <a:br/>
            <a:r>
              <a:t>Frame 2</a:t>
            </a:r>
            <a:br/>
            <a:r>
              <a:t>Frame 11</a:t>
            </a:r>
            <a:br/>
            <a:r>
              <a:t>Free</a:t>
            </a:r>
            <a:br/>
            <a:r>
              <a:t>Frame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645920"/>
            <a:ext cx="2743200" cy="3383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Disk / Backing Store</a:t>
            </a:r>
            <a:br/>
            <a:br/>
            <a:r>
              <a:t>Pages not currently resident in RAM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3291840"/>
            <a:ext cx="82296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3291840"/>
            <a:ext cx="8229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5532120"/>
            <a:ext cx="1078992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t>A process sees a large continuous virtual memory. The OS + hardware map virtual pages to RAM frames or locate them on disk.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Demand Paging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Lazy loading: load a page only when referenced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017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CPU references page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21608" y="2011680"/>
            <a:ext cx="66751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34840" y="1600200"/>
            <a:ext cx="3017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Page table check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70648" y="2011680"/>
            <a:ext cx="667511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183879" y="1600200"/>
            <a:ext cx="3017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Page in RAM?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92640" y="2468880"/>
            <a:ext cx="0" cy="502920"/>
          </a:xfrm>
          <a:prstGeom prst="line">
            <a:avLst/>
          </a:prstGeom>
          <a:ln w="25400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3063240"/>
            <a:ext cx="3017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If no: page fault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21608" y="3474720"/>
            <a:ext cx="667512" cy="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34840" y="3063240"/>
            <a:ext cx="3017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Load page from disk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70648" y="3474720"/>
            <a:ext cx="667511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83879" y="3063240"/>
            <a:ext cx="3017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Update table &amp; 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3657600" cy="2743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Valid/Invalid bit in page table: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5257800"/>
          <a:ext cx="45720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Bit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Valid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Page is resident in RAM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Invalid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Page is not currently in RAM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943600" y="5166360"/>
            <a:ext cx="530352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Page fault is a mechanism in demand paging — not always a programming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Page Replacement: The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What if RAM is full?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When a referenced page is not in RAM and no free frame exists, the OS must choose a victim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2377440" cy="914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RAM full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29000" y="2926080"/>
            <a:ext cx="96012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26280" y="2468880"/>
            <a:ext cx="265176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Select victim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2926080"/>
            <a:ext cx="960120" cy="0"/>
          </a:xfrm>
          <a:prstGeom prst="line">
            <a:avLst/>
          </a:prstGeom>
          <a:ln w="317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2468880"/>
            <a:ext cx="265176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Load needed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241280" cy="41148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000" b="0">
                <a:solidFill>
                  <a:srgbClr val="475569"/>
                </a:solidFill>
              </a:defRPr>
            </a:pPr>
            <a:r>
              <a:t>Good replacement policy reduces page faults and improves execution speed.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Page Replacement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Four policies; four different philosophies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201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Decision Rule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Weakness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FIFO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Remove oldest loaded page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Very simple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May remove useful pages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NRU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Prefer not-recently-used pages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Low overhead approximation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Not exact history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LRU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Remove least recently used page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Strong practical idea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Exact tracking is costly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Remove page used farthest in future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Minimum faults benchmark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Future is unknowable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897880"/>
            <a:ext cx="1069848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Teaching key: FIFO looks at age, LRU looks at past, Optimal looks at future, NRU approximates recent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FIFO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Reference string: 1, 2, 3, 1, 4, 2, 5 | Frames =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6583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Ref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Frame 1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Frame 2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Frame 3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Fault?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2057400"/>
            <a:ext cx="3474720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DC2626"/>
                </a:solidFill>
              </a:defRPr>
            </a:pPr>
            <a:r>
              <a:t>FIFO faults 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3520440"/>
            <a:ext cx="3840480" cy="9144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t>Victim rule: remove the page that has been in memory the longest.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709160"/>
            <a:ext cx="3931920" cy="64008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700" b="1">
                <a:solidFill>
                  <a:srgbClr val="F97316"/>
                </a:solidFill>
              </a:defRPr>
            </a:pPr>
            <a:r>
              <a:t>Caution: FIFO can suffer from Belady’s anomaly.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NRU: Not Recently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Uses reference and modify bits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Eviction Preference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Not referenced, not modified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Best victim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Not referenced, modified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Possible victim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Referenced, clean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Avoid if possible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Referenced, modified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F172A"/>
                          </a:solidFill>
                        </a:defRPr>
                      </a:pPr>
                      <a:r>
                        <a:t>Worst victim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166360"/>
            <a:ext cx="10424160" cy="5486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800" b="0">
                <a:solidFill>
                  <a:srgbClr val="475569"/>
                </a:solidFill>
              </a:defRPr>
            </a:pPr>
            <a:r>
              <a:t>R bit tells whether the page was recently accessed. M bit tells whether it was modified and may need writing back to disk.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806440"/>
            <a:ext cx="10332720" cy="411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NRU is an approximation: it avoids expensive full history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EBA49D-F027-795B-BDC1-9137B4AE93EB}"/>
              </a:ext>
            </a:extLst>
          </p:cNvPr>
          <p:cNvSpPr txBox="1"/>
          <p:nvPr/>
        </p:nvSpPr>
        <p:spPr>
          <a:xfrm>
            <a:off x="1632154" y="125050"/>
            <a:ext cx="6115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LRU: Least Recently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A33D7-87CF-4F41-CD6D-5DCCE15641B7}"/>
              </a:ext>
            </a:extLst>
          </p:cNvPr>
          <p:cNvSpPr txBox="1"/>
          <p:nvPr/>
        </p:nvSpPr>
        <p:spPr>
          <a:xfrm>
            <a:off x="1317521" y="1504617"/>
            <a:ext cx="90358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Core Idea: </a:t>
            </a:r>
            <a:r>
              <a:rPr lang="en-US" sz="2800" dirty="0"/>
              <a:t>Remove the page that has not been used for the longest time in the past.</a:t>
            </a:r>
          </a:p>
          <a:p>
            <a:pPr>
              <a:buNone/>
            </a:pPr>
            <a:r>
              <a:rPr lang="en-US" sz="2800" b="1" dirty="0"/>
              <a:t>Logic: </a:t>
            </a:r>
            <a:r>
              <a:rPr lang="en-US" sz="2800" dirty="0"/>
              <a:t>If a page has not been used recently, it may not be needed soon.</a:t>
            </a:r>
          </a:p>
          <a:p>
            <a:pPr>
              <a:buNone/>
            </a:pPr>
            <a:r>
              <a:rPr lang="en-US" sz="2800" b="1" dirty="0"/>
              <a:t>Advantage: </a:t>
            </a:r>
            <a:r>
              <a:rPr lang="en-US" sz="2800" dirty="0"/>
              <a:t>Good practical performance </a:t>
            </a:r>
          </a:p>
          <a:p>
            <a:pPr>
              <a:buNone/>
            </a:pPr>
            <a:r>
              <a:rPr lang="en-US" sz="2800" b="1" dirty="0"/>
              <a:t>Disadvantage: </a:t>
            </a:r>
            <a:r>
              <a:rPr lang="en-US" sz="2800" dirty="0"/>
              <a:t>Exact implementation is costly</a:t>
            </a:r>
          </a:p>
        </p:txBody>
      </p:sp>
    </p:spTree>
    <p:extLst>
      <p:ext uri="{BB962C8B-B14F-4D97-AF65-F5344CB8AC3E}">
        <p14:creationId xmlns:p14="http://schemas.microsoft.com/office/powerpoint/2010/main" val="239310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38803C-5046-7365-222F-9E8E5CD15482}"/>
              </a:ext>
            </a:extLst>
          </p:cNvPr>
          <p:cNvSpPr txBox="1"/>
          <p:nvPr/>
        </p:nvSpPr>
        <p:spPr>
          <a:xfrm>
            <a:off x="1818968" y="213541"/>
            <a:ext cx="6115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Optimal Page Replacement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151DA-D794-39D8-6A62-5198E017EDE0}"/>
              </a:ext>
            </a:extLst>
          </p:cNvPr>
          <p:cNvSpPr txBox="1"/>
          <p:nvPr/>
        </p:nvSpPr>
        <p:spPr>
          <a:xfrm>
            <a:off x="1504336" y="1574290"/>
            <a:ext cx="83279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Core Idea:  </a:t>
            </a:r>
            <a:r>
              <a:rPr lang="en-US" sz="2800" dirty="0"/>
              <a:t>Remove the page that will not be used for the longest time in the future.</a:t>
            </a:r>
          </a:p>
          <a:p>
            <a:pPr>
              <a:buNone/>
            </a:pPr>
            <a:r>
              <a:rPr lang="en-US" sz="2800" b="1" dirty="0"/>
              <a:t>Advantage: </a:t>
            </a:r>
            <a:r>
              <a:rPr lang="en-US" sz="2800" dirty="0"/>
              <a:t>Gives minimum possible page faults </a:t>
            </a:r>
          </a:p>
          <a:p>
            <a:pPr>
              <a:buNone/>
            </a:pPr>
            <a:r>
              <a:rPr lang="en-US" sz="2800" b="1" dirty="0"/>
              <a:t>Disadvantage: </a:t>
            </a:r>
            <a:r>
              <a:rPr lang="en-US" sz="2800" dirty="0"/>
              <a:t>Cannot be implemented in real systems because future is unknown</a:t>
            </a:r>
          </a:p>
        </p:txBody>
      </p:sp>
    </p:spTree>
    <p:extLst>
      <p:ext uri="{BB962C8B-B14F-4D97-AF65-F5344CB8AC3E}">
        <p14:creationId xmlns:p14="http://schemas.microsoft.com/office/powerpoint/2010/main" val="2470834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LRU vs Optimal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Past-based practicality vs future-based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37760" cy="3566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LRU</a:t>
            </a:r>
            <a:br/>
            <a:br/>
            <a:r>
              <a:t>Rule: evict page not used for the longest time in the past.</a:t>
            </a:r>
            <a:br/>
            <a:br/>
            <a:r>
              <a:t>Logic: recent past predicts near future.</a:t>
            </a:r>
            <a:br/>
            <a:br/>
            <a:r>
              <a:t>Challenge: exact implementation is costly.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937760" cy="356616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Optimal</a:t>
            </a:r>
            <a:br/>
            <a:br/>
            <a:r>
              <a:t>Rule: evict page whose next use is farthest in the future.</a:t>
            </a:r>
            <a:br/>
            <a:br/>
            <a:r>
              <a:t>Logic: creates minimum page faults.</a:t>
            </a:r>
            <a:br/>
            <a:br/>
            <a:r>
              <a:t>Challenge: cannot know future 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623560"/>
            <a:ext cx="10058400" cy="4572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000" b="1">
                <a:solidFill>
                  <a:srgbClr val="475569"/>
                </a:solidFill>
              </a:defRPr>
            </a:pPr>
            <a:r>
              <a:t>Use Optimal to compare algorithms, not as a real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6FD92-9283-C7DD-4803-813DB5E88901}"/>
              </a:ext>
            </a:extLst>
          </p:cNvPr>
          <p:cNvSpPr txBox="1"/>
          <p:nvPr/>
        </p:nvSpPr>
        <p:spPr>
          <a:xfrm>
            <a:off x="1120877" y="1322042"/>
            <a:ext cx="96257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none" strike="noStrike" dirty="0">
                <a:effectLst/>
                <a:latin typeface="Aptos" panose="020B0004020202020204" pitchFamily="34" charset="0"/>
              </a:rPr>
              <a:t>Belady's Anomaly</a:t>
            </a:r>
            <a:r>
              <a:rPr lang="en-US" sz="2400" dirty="0">
                <a:latin typeface="Aptos" panose="020B0004020202020204" pitchFamily="34" charset="0"/>
              </a:rPr>
              <a:t> is a counterintuitive phenomenon in operating systems where </a:t>
            </a:r>
            <a:r>
              <a:rPr lang="en-US" sz="2400" b="1" u="none" strike="noStrike" dirty="0">
                <a:effectLst/>
                <a:latin typeface="Aptos" panose="020B0004020202020204" pitchFamily="34" charset="0"/>
              </a:rPr>
              <a:t>increasing the number of page frames results in an increase in the number of page faults</a:t>
            </a:r>
            <a:r>
              <a:rPr lang="en-US" sz="2400" dirty="0">
                <a:latin typeface="Aptos" panose="020B0004020202020204" pitchFamily="34" charset="0"/>
              </a:rPr>
              <a:t> for specific page reference patterns.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dirty="0">
                <a:latin typeface="Aptos" panose="020B0004020202020204" pitchFamily="34" charset="0"/>
              </a:rPr>
              <a:t>Normally, allocating more physical memory (page frames) to a process reduces page faults because more data stays cached. However, certain page replacement algorithms violate this expectation.</a:t>
            </a:r>
            <a:endParaRPr lang="en-IN" sz="24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7CBDC-0B95-38CD-2E97-9AE24C2410E3}"/>
              </a:ext>
            </a:extLst>
          </p:cNvPr>
          <p:cNvSpPr txBox="1"/>
          <p:nvPr/>
        </p:nvSpPr>
        <p:spPr>
          <a:xfrm>
            <a:off x="1533833" y="134882"/>
            <a:ext cx="6115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none" strike="noStrike" dirty="0">
                <a:effectLst/>
                <a:latin typeface="+mj-lt"/>
              </a:rPr>
              <a:t>Belady's Anomaly</a:t>
            </a:r>
            <a:r>
              <a:rPr lang="en-US" sz="3200" dirty="0">
                <a:latin typeface="+mj-lt"/>
              </a:rPr>
              <a:t> </a:t>
            </a:r>
            <a:endParaRPr lang="en-IN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0275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Thrashing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When virtual memory collapses into excessive paging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05490"/>
            <a:ext cx="4663440" cy="6548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 dirty="0"/>
              <a:t>Too many processes</a:t>
            </a:r>
          </a:p>
        </p:txBody>
      </p:sp>
      <p:cxnSp>
        <p:nvCxnSpPr>
          <p:cNvPr id="6" name="Connector 5"/>
          <p:cNvCxnSpPr>
            <a:cxnSpLocks/>
          </p:cNvCxnSpPr>
          <p:nvPr/>
        </p:nvCxnSpPr>
        <p:spPr>
          <a:xfrm>
            <a:off x="3017520" y="2490707"/>
            <a:ext cx="0" cy="253476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2746738"/>
            <a:ext cx="4663440" cy="6548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 dirty="0"/>
              <a:t>Too few frames per process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3017520" y="3331955"/>
            <a:ext cx="0" cy="253476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3587986"/>
            <a:ext cx="4663440" cy="6548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rPr dirty="0"/>
              <a:t>High page-fault rate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3017520" y="4173203"/>
            <a:ext cx="0" cy="253476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4429234"/>
            <a:ext cx="4663440" cy="6548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Disk paging dominates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3017520" y="5014451"/>
            <a:ext cx="0" cy="253476"/>
          </a:xfrm>
          <a:prstGeom prst="line">
            <a:avLst/>
          </a:prstGeom>
          <a:ln w="25400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5270482"/>
            <a:ext cx="4663440" cy="6548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CPU utilization drops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05491"/>
            <a:ext cx="4023360" cy="3657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Performance intuition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5288771"/>
            <a:ext cx="4343400" cy="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537960" y="2362690"/>
            <a:ext cx="0" cy="2926081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37960" y="4328651"/>
            <a:ext cx="685800" cy="64008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223760" y="3642851"/>
            <a:ext cx="640079" cy="68580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863839" y="3048491"/>
            <a:ext cx="594361" cy="59436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458200" y="3002771"/>
            <a:ext cx="685800" cy="4572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3002771"/>
            <a:ext cx="594360" cy="77724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38360" y="3780011"/>
            <a:ext cx="594360" cy="100584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23760" y="5503720"/>
            <a:ext cx="3474721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600" dirty="0"/>
              <a:t>Degree of multiprogramming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22811"/>
            <a:ext cx="1161728" cy="270843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400"/>
              <a:t>CPU utilization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191491"/>
            <a:ext cx="1828800" cy="2743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thrashing zone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Controlling Thrashing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3773021" cy="2862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t>Restore balance between execution and paging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685309" y="168388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rPr dirty="0"/>
              <a:t>Reduce degree of multiprogramming</a:t>
            </a:r>
            <a:br>
              <a:rPr dirty="0"/>
            </a:br>
            <a:r>
              <a:rPr dirty="0"/>
              <a:t>Fewer processes compete for frames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rPr dirty="0"/>
              <a:t>Allocate more frames</a:t>
            </a:r>
            <a:br>
              <a:rPr dirty="0"/>
            </a:br>
            <a:r>
              <a:rPr dirty="0"/>
              <a:t>Give working processes enough resident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Working set idea</a:t>
            </a:r>
            <a:br/>
            <a:r>
              <a:t>Keep pages a process actively 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29184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0F172A"/>
                </a:solidFill>
              </a:defRPr>
            </a:pPr>
            <a:r>
              <a:t>Monitor page-fault rate</a:t>
            </a:r>
            <a:br/>
            <a:r>
              <a:t>Detect when paging becomes excessive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623560"/>
            <a:ext cx="987552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sz="2400"/>
              <a:t>Thrashing is not solved by faster replacement alone; it requires enough frames for active working sets.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One-Slide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2261709" cy="2862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lang="en-IN" dirty="0"/>
              <a:t>What must be </a:t>
            </a:r>
            <a:r>
              <a:rPr dirty="0"/>
              <a:t>remember</a:t>
            </a:r>
            <a:r>
              <a:rPr lang="en-IN" dirty="0"/>
              <a:t>ed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1456"/>
              </p:ext>
            </p:extLst>
          </p:nvPr>
        </p:nvGraphicFramePr>
        <p:xfrm>
          <a:off x="640080" y="1508760"/>
          <a:ext cx="10927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3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Term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Meaning</a:t>
                      </a:r>
                    </a:p>
                  </a:txBody>
                  <a:tcPr marL="45720" marR="45720" marT="27432" marB="2743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 dirty="0"/>
                        <a:t>Virtual Memory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/>
                        <a:t>Illusion of large private memory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 dirty="0"/>
                        <a:t>Demand Paging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/>
                        <a:t>Load page only when needed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/>
                        <a:t>Page Fault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 dirty="0"/>
                        <a:t>Referenced page is not resident in RAM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 dirty="0"/>
                        <a:t>Page Replacement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 dirty="0"/>
                        <a:t>Choose victim page when RAM is full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/>
                        <a:t>FIFO / NRU / LRU / Optimal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 dirty="0"/>
                        <a:t>Different victim-selection policies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/>
                        <a:t>Thrashing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172A"/>
                          </a:solidFill>
                        </a:defRPr>
                      </a:pPr>
                      <a:r>
                        <a:rPr sz="2400" dirty="0"/>
                        <a:t>Excessive paging causes poor execution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6080760"/>
            <a:ext cx="10515600" cy="32004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700" b="1">
                <a:solidFill>
                  <a:srgbClr val="475569"/>
                </a:solidFill>
              </a:defRPr>
            </a:pPr>
            <a:r>
              <a:t>Closing line: Virtual memory improves flexibility; uncontrolled page faults destroy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Quick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34440"/>
            <a:ext cx="1097280" cy="640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15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1. Why is page fault not always an error?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10515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2. Which algorithm is theoretical benchmark: FIFO, LRU, NRU, or Optimal?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10515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3. Why does thrashing reduce CPU utilization?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0515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4. FIFO looks at age. LRU looks at what?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10515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5. What happens if RAM is full during a page fault?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itkara PPT Templat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itkara PPT Template Theme" id="{FD9EDF5F-2B1B-4B14-BA91-24ADB5F4C531}" vid="{292DE5D3-99F7-47C6-A08A-AEE0BA205E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Deadlocks (complete)</Template>
  <TotalTime>20</TotalTime>
  <Words>1078</Words>
  <Application>Microsoft Office PowerPoint</Application>
  <PresentationFormat>Widescreen</PresentationFormat>
  <Paragraphs>210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Chitkara PPT Template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vardhan</cp:lastModifiedBy>
  <cp:revision>2</cp:revision>
  <dcterms:created xsi:type="dcterms:W3CDTF">2013-01-27T09:14:16Z</dcterms:created>
  <dcterms:modified xsi:type="dcterms:W3CDTF">2026-05-06T06:32:24Z</dcterms:modified>
  <cp:category/>
</cp:coreProperties>
</file>